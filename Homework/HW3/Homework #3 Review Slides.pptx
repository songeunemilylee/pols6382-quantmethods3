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20"/>
  </p:notesMasterIdLst>
  <p:sldIdLst>
    <p:sldId id="257" r:id="rId2"/>
    <p:sldId id="258" r:id="rId3"/>
    <p:sldId id="261" r:id="rId4"/>
    <p:sldId id="271" r:id="rId5"/>
    <p:sldId id="273" r:id="rId6"/>
    <p:sldId id="275" r:id="rId7"/>
    <p:sldId id="266" r:id="rId8"/>
    <p:sldId id="272" r:id="rId9"/>
    <p:sldId id="270" r:id="rId10"/>
    <p:sldId id="262" r:id="rId11"/>
    <p:sldId id="263" r:id="rId12"/>
    <p:sldId id="269" r:id="rId13"/>
    <p:sldId id="267" r:id="rId14"/>
    <p:sldId id="268" r:id="rId15"/>
    <p:sldId id="274" r:id="rId16"/>
    <p:sldId id="276" r:id="rId17"/>
    <p:sldId id="277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579"/>
  </p:normalViewPr>
  <p:slideViewPr>
    <p:cSldViewPr snapToGrid="0" snapToObjects="1">
      <p:cViewPr varScale="1">
        <p:scale>
          <a:sx n="115" d="100"/>
          <a:sy n="115" d="100"/>
        </p:scale>
        <p:origin x="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596C8-7012-6745-9871-86F62B148E33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45CBE-09DB-7841-BB18-856B2C798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87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45CBE-09DB-7841-BB18-856B2C798B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29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53E7-B410-594A-2969-B5559C2EC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B3E9B-4C5B-1C3B-0D48-18CCD8861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15F38-C369-2B24-97A4-B59B18EE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C5C9-164C-46B3-A87E-7660D39D3106}" type="datetime2">
              <a:rPr lang="en-US" smtClean="0"/>
              <a:t>Wednesday, October 22,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72335-0ED2-E267-0849-65A228359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CA7DA-4149-9FDA-D3E4-16E7520C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30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DFBD-3B56-7893-6AD7-4D3CAD83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CB8FD-57F1-2613-FA21-5C936F255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1682C-E614-EC9E-71AF-C88760B3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FF8A-AAF8-4A12-8A91-9CA0EAF6CBB9}" type="datetime2">
              <a:rPr lang="en-US" smtClean="0"/>
              <a:t>Wednesday, October 22,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4371B-7538-20E4-7594-C83C8C73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43B3-C934-DC2C-2757-A4FD41DDE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39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3920-B13A-4D9D-C37C-242BF4808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D0A08-0F93-B042-329D-F6CD64298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4E1E4-6C09-D86F-1AEC-51CFA955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25C3-021A-4B0B-8F70-0C181FE1CF45}" type="datetime2">
              <a:rPr lang="en-US" smtClean="0"/>
              <a:t>Wednesday, October 22,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26C99-D026-8D83-E1D6-5154CF2EA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CD301-2C60-2DB7-C4A9-9E7BBBD13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0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B471F-E6CD-5B68-5392-3B61F3CF8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E0B00-004E-358D-39CB-DE1799466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83C5C-BF62-0A0E-ECCF-3FC9430AB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94FAA-EE83-C6A3-D557-CBE070260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D88D-8CEC-4ED9-A53B-5596187D9A16}" type="datetime2">
              <a:rPr lang="en-US" smtClean="0"/>
              <a:t>Wednesday, October 22,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CBCFD-1A27-40C1-50A4-FF5793BD7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B467F-D64C-E51A-C16F-79C97539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4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9B103-47A5-7642-4F8E-10D960F43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C4C75-77A4-F327-C8A3-B6D85F09C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2F93D-DFCE-3AB8-65F6-8A7720AA7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CEEB3A-2BB3-1B9B-B9AA-77D1D0452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B44B9-6CB7-D132-C30E-FE8005942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FEB18-6226-CFDA-32BF-858A8F46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D382-DFDA-4722-A27A-59C21AD112F2}" type="datetime2">
              <a:rPr lang="en-US" smtClean="0"/>
              <a:t>Wednesday, October 22,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B385F5-F067-65A5-540A-FE51E11E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8CC8F-A25D-CE3C-053B-DA7BACB95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7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EC5F-64A7-4B4D-465A-BA0B2B2DD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62DA78-0698-859D-7F47-E00855FF4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2A30D-1C09-413F-AAB1-38F366000715}" type="datetime2">
              <a:rPr lang="en-US" smtClean="0"/>
              <a:t>Wednesday, October 22,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AF40A-B2B1-D224-0341-A8214AE1C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AC3FC-BC2C-5EAF-2C68-A4FD9B8F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90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532D7-128E-3247-691E-4E1DA145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82B9C-D65E-4F64-95C3-B10F3B00F0D9}" type="datetime2">
              <a:rPr lang="en-US" smtClean="0"/>
              <a:t>Wednesday, October 22,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2762A1-B118-E1E0-1BC6-6113300A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8116E-4DC1-9A88-BB0F-A265A5B0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70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F492F-1C39-25A5-CD70-6B44DEA4F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B6420-4C38-CC18-71BA-B2CD086D6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46F45-AE4E-8014-360F-0F9A9D5A0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D6635-7E18-4954-A82B-D4F882B97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FDCC-6AAC-4A08-B9E0-3793AB5E64C3}" type="datetime2">
              <a:rPr lang="en-US" smtClean="0"/>
              <a:t>Wednesday, October 22,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9E188-6F55-801C-4179-52DEBE6D3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D7ACB-2C28-8237-9593-4A51FF08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00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3A59-CD11-5ACE-642C-3BAEF1F1B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CE66CE-0B3A-377D-A55D-D7093131F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37444-8263-452C-9AC9-7E9233A00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EAFD5-DCE3-872E-EDF5-6F7402705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FE94D-439C-40F1-900E-BC07940E3988}" type="datetime2">
              <a:rPr lang="en-US" smtClean="0"/>
              <a:t>Wednesday, October 22,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42B48-7471-DF52-ACD0-9494D50C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F54E4-CE2A-B5CF-2D6E-6BA5534C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1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C99FE-A44D-74C6-CCAC-49D875F1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D3758-04D7-1E4E-E6F6-4057503AE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DEE0D-4F7B-43F3-47FC-FFEFB8F96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179A-1E2B-41AB-B400-4F1B4022FAEE}" type="datetime2">
              <a:rPr lang="en-US" smtClean="0"/>
              <a:t>Wednesday, October 22,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5D6E-D622-41D8-B607-765B82AE3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9C867-A1BE-9351-2A6C-0048AEA3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8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DF6132-8659-0129-C814-ACA6837A38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3FEE1-EE50-A9B1-DB9F-A44B8CA93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AF2C5-93F7-640C-2E2A-F09D4EF2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1D0F-6595-4F14-8EF3-954CD87C797B}" type="datetime2">
              <a:rPr lang="en-US" smtClean="0"/>
              <a:t>Wednesday, October 22,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8F8B-CE41-2B78-5D51-A5EBEBAEE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B1D57-66FA-84BE-D61C-239C842D2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0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505DD2-3ABA-8D54-E1CD-05E7ACC9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B422F-6919-485C-3748-1A737B987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6F74C-63B0-44A7-5D48-BBCA9AD5F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A2CF1-0EB2-4673-802D-3371233E4A77}" type="datetime2">
              <a:rPr lang="en-US" smtClean="0"/>
              <a:t>Wednesday, October 22,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2F12B-75E6-3E3E-EFB6-5C99BCCD7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DDDF7-4F56-145F-09DA-C788EA5D9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2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497B-3C66-31D7-DF49-9846B924D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4137" y="936171"/>
            <a:ext cx="5183725" cy="1748844"/>
          </a:xfrm>
        </p:spPr>
        <p:txBody>
          <a:bodyPr>
            <a:no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Homework #3</a:t>
            </a:r>
            <a:b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40B6A-B2C9-5750-17A6-274E1D3EE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9566" y="3622890"/>
            <a:ext cx="5297605" cy="2298939"/>
          </a:xfrm>
        </p:spPr>
        <p:txBody>
          <a:bodyPr>
            <a:normAutofit/>
          </a:bodyPr>
          <a:lstStyle/>
          <a:p>
            <a:r>
              <a:rPr lang="en-US" sz="2800" dirty="0"/>
              <a:t>POLS6382 Quantitative Methods III: Maximum Likelihood Estimation</a:t>
            </a:r>
          </a:p>
          <a:p>
            <a:endParaRPr lang="en-US" sz="2800" dirty="0"/>
          </a:p>
          <a:p>
            <a:r>
              <a:rPr lang="en-US" sz="2800" dirty="0"/>
              <a:t>10/22/25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7FE116-36DF-650B-6DAA-C9B10040E1BB}"/>
              </a:ext>
            </a:extLst>
          </p:cNvPr>
          <p:cNvCxnSpPr>
            <a:cxnSpLocks/>
          </p:cNvCxnSpPr>
          <p:nvPr/>
        </p:nvCxnSpPr>
        <p:spPr>
          <a:xfrm>
            <a:off x="4114800" y="3097365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371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EBCB-B096-169F-5472-FF9873C1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0874"/>
            <a:ext cx="6843132" cy="1056178"/>
          </a:xfrm>
        </p:spPr>
        <p:txBody>
          <a:bodyPr>
            <a:normAutofit fontScale="90000"/>
          </a:bodyPr>
          <a:lstStyle/>
          <a:p>
            <a:pPr algn="ctr"/>
            <a:r>
              <a:rPr lang="en-US" i="1" dirty="0"/>
              <a:t>Section 1. Analyzing  Abortion Attitudes using ANES Data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D19B81-4F71-CC0D-AC64-EA96AB82BADD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5FCF2-1ED5-EBA3-F42A-2A7769FD6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1. Descriptive analysis of categorical variables: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i="1" dirty="0"/>
              <a:t>Reporting sample frequencies without the information about the sample size;</a:t>
            </a:r>
          </a:p>
          <a:p>
            <a:r>
              <a:rPr lang="en-US" i="1" dirty="0"/>
              <a:t>Better to use sample proportions or percentage numbers.</a:t>
            </a:r>
          </a:p>
          <a:p>
            <a:r>
              <a:rPr lang="en-US" i="1" dirty="0"/>
              <a:t>Summary() will not produce useful summary statistics for categorical variables. </a:t>
            </a:r>
          </a:p>
          <a:p>
            <a:r>
              <a:rPr lang="en-US" i="1" dirty="0"/>
              <a:t>No need to present redundant figures. Just choose and present the best one. </a:t>
            </a:r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6881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D19B81-4F71-CC0D-AC64-EA96AB82BADD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5FCF2-1ED5-EBA3-F42A-2A7769FD6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2429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2. Visualizing ANES Data</a:t>
            </a:r>
            <a:endParaRPr lang="en-US" i="1" dirty="0"/>
          </a:p>
          <a:p>
            <a:endParaRPr lang="en-US" i="1" dirty="0"/>
          </a:p>
          <a:p>
            <a:r>
              <a:rPr lang="en-US" i="1" dirty="0"/>
              <a:t>ANES 2024: When recoding the dependent variable, make sure to exclude “5”.</a:t>
            </a:r>
          </a:p>
          <a:p>
            <a:r>
              <a:rPr lang="en-US" i="1" dirty="0"/>
              <a:t>Make sure that figures are self-contained.</a:t>
            </a:r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E9ED97C-4ABA-58A0-C02F-5D0AA7DD6432}"/>
              </a:ext>
            </a:extLst>
          </p:cNvPr>
          <p:cNvSpPr txBox="1">
            <a:spLocks/>
          </p:cNvSpPr>
          <p:nvPr/>
        </p:nvSpPr>
        <p:spPr>
          <a:xfrm>
            <a:off x="304800" y="70874"/>
            <a:ext cx="7445298" cy="1056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 dirty="0"/>
              <a:t>Section 1. Analyzing  Abortion Attitudes using ANES Data</a:t>
            </a:r>
          </a:p>
        </p:txBody>
      </p:sp>
    </p:spTree>
    <p:extLst>
      <p:ext uri="{BB962C8B-B14F-4D97-AF65-F5344CB8AC3E}">
        <p14:creationId xmlns:p14="http://schemas.microsoft.com/office/powerpoint/2010/main" val="3190917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119D1-EF11-FD22-6D99-BB9CD65E8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BFD0FCD-E47B-7FA7-481E-EB48B0FA90C0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94407-7078-FEB0-9CBE-82F1A57B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85" y="1379611"/>
            <a:ext cx="10722429" cy="4351338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2. Descriptive Figure (credit to Kolbe!)</a:t>
            </a:r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sz="2000" i="1" dirty="0"/>
              <a:t>ANES 1988					     ANES2024	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35F8188-CB17-247F-8066-A4AFEACB004F}"/>
              </a:ext>
            </a:extLst>
          </p:cNvPr>
          <p:cNvSpPr txBox="1">
            <a:spLocks/>
          </p:cNvSpPr>
          <p:nvPr/>
        </p:nvSpPr>
        <p:spPr>
          <a:xfrm>
            <a:off x="304800" y="70874"/>
            <a:ext cx="7445298" cy="1056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 dirty="0"/>
              <a:t>Section 1. Analyzing  Abortion Attitudes using ANES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0C0A9F-0399-C0BE-2F02-6BBCD16F4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85" y="1726869"/>
            <a:ext cx="5740400" cy="34042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B2129E-E892-D2AC-1CF2-5B934551B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254" y="1885230"/>
            <a:ext cx="60452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6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79128-44BB-05F4-6F99-59C1F0136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19B0D0F-0237-627E-CAF0-CD7CBF31FB2B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3471A-08CE-2D1F-1B24-C53343ADE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85" y="1379611"/>
            <a:ext cx="10722429" cy="4351338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2. Descriptive Figure, ANES 1988 (credit to </a:t>
            </a:r>
            <a:r>
              <a:rPr lang="en-US" b="0" i="0" u="none" strike="noStrike" dirty="0" err="1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Jeemin</a:t>
            </a: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!)</a:t>
            </a:r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sz="2000" i="1" dirty="0"/>
              <a:t>						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57FA61-2C88-B1F1-D028-35EB87DE3933}"/>
              </a:ext>
            </a:extLst>
          </p:cNvPr>
          <p:cNvSpPr txBox="1">
            <a:spLocks/>
          </p:cNvSpPr>
          <p:nvPr/>
        </p:nvSpPr>
        <p:spPr>
          <a:xfrm>
            <a:off x="304800" y="70874"/>
            <a:ext cx="7445298" cy="1056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 dirty="0"/>
              <a:t>Section 1. Analyzing  Abortion Attitudes using ANES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D0BD6-A089-CAFF-258A-66B4C993E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1920949"/>
            <a:ext cx="63754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8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4B77-9F7B-F7BA-FF85-D9B180BC9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5C42ADD-4D1B-11E1-F27E-D3784CB90C4E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FC487-DE1E-F829-5CDD-C022DAB9E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85" y="1379611"/>
            <a:ext cx="10722429" cy="4351338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2. Descriptive Figure, ANES 1988 (credit to </a:t>
            </a:r>
            <a:r>
              <a:rPr lang="en-US" b="0" i="0" u="none" strike="noStrike" dirty="0" err="1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Jeemin</a:t>
            </a: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!)</a:t>
            </a:r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sz="2000" i="1" dirty="0"/>
              <a:t>						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8ED5FBB-059B-FBB0-97A6-D3C2C731D722}"/>
              </a:ext>
            </a:extLst>
          </p:cNvPr>
          <p:cNvSpPr txBox="1">
            <a:spLocks/>
          </p:cNvSpPr>
          <p:nvPr/>
        </p:nvSpPr>
        <p:spPr>
          <a:xfrm>
            <a:off x="304800" y="70874"/>
            <a:ext cx="7445298" cy="1056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 dirty="0"/>
              <a:t>Section 1. Analyzing  Abortion Attitudes using ANES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33CE15-975B-92C5-7F17-1DEE6A06B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49" y="1919508"/>
            <a:ext cx="62738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41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05098-F3DC-F3E1-2EF2-73B6B006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C188A8-0B96-E397-7CF2-CA560B2E460D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55735-A15E-95F9-58A7-181328C87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637315" cy="4351338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2. ANES 2020 Data, from last year. </a:t>
            </a: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Stargazer() is a great method to show differences between models.</a:t>
            </a:r>
          </a:p>
          <a:p>
            <a:pPr marL="0" indent="0">
              <a:buNone/>
            </a:pPr>
            <a:r>
              <a:rPr lang="en-US" i="1" dirty="0"/>
              <a:t>- The effect size of “conservatism” is greater in Model (2), meaning that ideology-based differences become more salient in 2020 than in 1988. 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FB3F57-2A8F-82FD-9B03-03DBE8B8D481}"/>
              </a:ext>
            </a:extLst>
          </p:cNvPr>
          <p:cNvSpPr txBox="1">
            <a:spLocks/>
          </p:cNvSpPr>
          <p:nvPr/>
        </p:nvSpPr>
        <p:spPr>
          <a:xfrm>
            <a:off x="304800" y="70873"/>
            <a:ext cx="427340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 dirty="0"/>
              <a:t>Section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9C887C-EDAF-FB8E-3A4F-7321E39E4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643" y="368300"/>
            <a:ext cx="5308600" cy="612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5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EC2E9-335D-B611-A3F4-EFA464515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8999E65-D81F-B961-8899-8FE60BF20F04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0CC2D-8379-1F4B-5884-4ABC5944D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637315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2. ANES 2024 Data, Credit to Kolbe.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- </a:t>
            </a:r>
            <a:r>
              <a:rPr lang="en-US" i="1" dirty="0" err="1"/>
              <a:t>modelsummary</a:t>
            </a:r>
            <a:r>
              <a:rPr lang="en-US" i="1" dirty="0"/>
              <a:t>() </a:t>
            </a:r>
          </a:p>
          <a:p>
            <a:pPr marL="0" indent="0">
              <a:buNone/>
            </a:pPr>
            <a:r>
              <a:rPr lang="en-US" i="1" dirty="0"/>
              <a:t>- The effect size of “conservatism” is greater in Model (2), meaning that ideology-based differences become more salient in 2024 than in 1988. 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86ABC8-2884-8830-0AAD-E1F1428E3825}"/>
              </a:ext>
            </a:extLst>
          </p:cNvPr>
          <p:cNvSpPr txBox="1">
            <a:spLocks/>
          </p:cNvSpPr>
          <p:nvPr/>
        </p:nvSpPr>
        <p:spPr>
          <a:xfrm>
            <a:off x="304800" y="70873"/>
            <a:ext cx="427340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 dirty="0"/>
              <a:t>Section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A75BF5-7416-B349-FE57-56D0EBAA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363" y="524417"/>
            <a:ext cx="37211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18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21B4C-051B-489C-6D00-49EB0668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2F372BE-188B-F3B0-FBDD-0BAD051247CA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B006F6-9667-D694-5EAC-5BD6DFFC8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2429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3.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Interpretation of results</a:t>
            </a:r>
            <a:endParaRPr lang="en-US" b="0" i="0" u="none" strike="noStrike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i="1" dirty="0"/>
          </a:p>
          <a:p>
            <a:r>
              <a:rPr lang="en-US" i="1" dirty="0"/>
              <a:t>Confusion between “likelihood” and “probability”. When using predict() or effects (), R produces predicted probabilities corresponding to each choice category. These numbers refer to the probability of choosing a certain category, not the likelihood. </a:t>
            </a:r>
          </a:p>
          <a:p>
            <a:endParaRPr lang="en-US" i="1" dirty="0"/>
          </a:p>
          <a:p>
            <a:r>
              <a:rPr lang="en-US" i="1" dirty="0"/>
              <a:t>Still, see some students discussing statistically insignificant coefficients to show a negative or positive effect. </a:t>
            </a:r>
          </a:p>
          <a:p>
            <a:endParaRPr lang="en-US" i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276B47C-A333-DBBE-2FD5-412BB3B2AC44}"/>
              </a:ext>
            </a:extLst>
          </p:cNvPr>
          <p:cNvSpPr txBox="1">
            <a:spLocks/>
          </p:cNvSpPr>
          <p:nvPr/>
        </p:nvSpPr>
        <p:spPr>
          <a:xfrm>
            <a:off x="304800" y="70873"/>
            <a:ext cx="427340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 dirty="0"/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1485092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D19B81-4F71-CC0D-AC64-EA96AB82BADD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5FCF2-1ED5-EBA3-F42A-2A7769FD6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86" y="1396436"/>
            <a:ext cx="4148218" cy="4351338"/>
          </a:xfrm>
        </p:spPr>
        <p:txBody>
          <a:bodyPr>
            <a:normAutofit fontScale="92500"/>
          </a:bodyPr>
          <a:lstStyle/>
          <a:p>
            <a:pPr marL="0" indent="0" algn="l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4.Predicted probability figure</a:t>
            </a:r>
            <a:endParaRPr lang="en-US" i="1" dirty="0"/>
          </a:p>
          <a:p>
            <a:r>
              <a:rPr lang="en-US" i="1" dirty="0"/>
              <a:t>Make sure to check the legend matches with the coding of categories (especially if you reuse the code from a previous figure!)</a:t>
            </a:r>
          </a:p>
          <a:p>
            <a:r>
              <a:rPr lang="en-US" i="1" dirty="0"/>
              <a:t>Include CIs in the predicted probability figure. (See the solution script on Canvas)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AB6DED-BC96-3D16-B46F-01F402AEF2F7}"/>
              </a:ext>
            </a:extLst>
          </p:cNvPr>
          <p:cNvSpPr txBox="1">
            <a:spLocks/>
          </p:cNvSpPr>
          <p:nvPr/>
        </p:nvSpPr>
        <p:spPr>
          <a:xfrm>
            <a:off x="304800" y="70873"/>
            <a:ext cx="427340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 dirty="0"/>
              <a:t>Section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5582E9-B45C-4900-84AC-57B92C770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513" y="733653"/>
            <a:ext cx="6707593" cy="448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67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D19B81-4F71-CC0D-AC64-EA96AB82BADD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5FCF2-1ED5-EBA3-F42A-2A7769FD6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63225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5</a:t>
            </a: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. Brant test results</a:t>
            </a:r>
            <a:endParaRPr lang="en-US" i="1" dirty="0"/>
          </a:p>
          <a:p>
            <a:r>
              <a:rPr lang="en-US" i="1" dirty="0"/>
              <a:t>Some did not discuss the results 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b="1" i="1" dirty="0"/>
              <a:t>Parallel regression assumption </a:t>
            </a:r>
            <a:r>
              <a:rPr lang="en-US" i="1" dirty="0"/>
              <a:t>= the relationship between each pair of outcome groups is the same. </a:t>
            </a:r>
          </a:p>
          <a:p>
            <a:r>
              <a:rPr lang="en-US" i="1" dirty="0"/>
              <a:t>e.g. the effect of gender on moving from category 1 to category 2 is the same as the effect of gender on moving from category 2 to category 3 </a:t>
            </a:r>
          </a:p>
          <a:p>
            <a:r>
              <a:rPr lang="en-US" i="1" dirty="0"/>
              <a:t>We can test  this with the Brant test!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85B185E-2534-47A4-4B9E-81799DD1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0873"/>
            <a:ext cx="3999571" cy="1325563"/>
          </a:xfrm>
        </p:spPr>
        <p:txBody>
          <a:bodyPr>
            <a:normAutofit/>
          </a:bodyPr>
          <a:lstStyle/>
          <a:p>
            <a:pPr algn="ctr"/>
            <a:r>
              <a:rPr lang="en-US" i="1" dirty="0"/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2062984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B0440-54EB-0F9E-6FDE-CF183017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C582E6E-EB07-7156-97BB-80B3CC1CD935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844D4D-F664-ACFD-EC20-0BE36B312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69230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5</a:t>
            </a: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. Brant test results</a:t>
            </a: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i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FBD2B5-21D2-05F0-AC77-6DA6FB852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0873"/>
            <a:ext cx="4273403" cy="1325563"/>
          </a:xfrm>
        </p:spPr>
        <p:txBody>
          <a:bodyPr/>
          <a:lstStyle/>
          <a:p>
            <a:pPr algn="ctr"/>
            <a:r>
              <a:rPr lang="en-US" i="1" dirty="0"/>
              <a:t>Section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73374E-EE47-981C-DE49-1D384E157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381000"/>
            <a:ext cx="6477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2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BD8B2-03D9-02E9-0DD3-2AEE3C91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67E984B-F6A4-71D5-A100-7174A815DD95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557AC9-A6EE-C16E-F7EE-2C475533E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69230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5</a:t>
            </a: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. Brant test results</a:t>
            </a: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If this p-value is significant (p &lt; 0.05), it indicates that the proportional odds assumption is violated for the </a:t>
            </a:r>
            <a:r>
              <a:rPr lang="en-US" b="1" i="1" dirty="0"/>
              <a:t>model as a whole.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A92D7E-904F-5143-6ED8-37F315650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0873"/>
            <a:ext cx="4273403" cy="1325563"/>
          </a:xfrm>
        </p:spPr>
        <p:txBody>
          <a:bodyPr/>
          <a:lstStyle/>
          <a:p>
            <a:pPr algn="ctr"/>
            <a:r>
              <a:rPr lang="en-US" i="1" dirty="0"/>
              <a:t>Section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598061-1C5B-28B3-0278-85FE49B24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381000"/>
            <a:ext cx="6477000" cy="6096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E17EC1-8D12-E270-8A06-8FAF145AEF32}"/>
              </a:ext>
            </a:extLst>
          </p:cNvPr>
          <p:cNvSpPr/>
          <p:nvPr/>
        </p:nvSpPr>
        <p:spPr>
          <a:xfrm>
            <a:off x="5497286" y="1684110"/>
            <a:ext cx="3570514" cy="2830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23E1BF-32F1-7130-0B73-344F6C960E8A}"/>
              </a:ext>
            </a:extLst>
          </p:cNvPr>
          <p:cNvCxnSpPr/>
          <p:nvPr/>
        </p:nvCxnSpPr>
        <p:spPr>
          <a:xfrm flipV="1">
            <a:off x="4474029" y="2057400"/>
            <a:ext cx="936171" cy="177437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842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985F8-8C44-6688-5BEC-03E836C31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B87FF45-C300-46B9-571A-F6AD81D4669F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3F179A-22D2-3E09-8CEF-1B194F100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271" y="1396436"/>
            <a:ext cx="4169230" cy="4351338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5</a:t>
            </a: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. Brant test results</a:t>
            </a:r>
            <a:endParaRPr lang="en-US" i="1" dirty="0"/>
          </a:p>
          <a:p>
            <a:r>
              <a:rPr lang="en-US" i="1" dirty="0"/>
              <a:t>The problematic variable is “female”. </a:t>
            </a:r>
          </a:p>
          <a:p>
            <a:r>
              <a:rPr lang="en-US" i="1" dirty="0"/>
              <a:t>What to do when the parallel regression assumption is violated?</a:t>
            </a:r>
          </a:p>
          <a:p>
            <a:r>
              <a:rPr lang="en-US" i="1" dirty="0"/>
              <a:t>We can add nominal effects for the variable, female, using </a:t>
            </a:r>
            <a:r>
              <a:rPr lang="en-US" i="1" dirty="0" err="1"/>
              <a:t>clm</a:t>
            </a:r>
            <a:r>
              <a:rPr lang="en-US" i="1" dirty="0"/>
              <a:t>()</a:t>
            </a:r>
          </a:p>
          <a:p>
            <a:r>
              <a:rPr lang="en-US" sz="2200" dirty="0"/>
              <a:t>Newmodel&lt;-</a:t>
            </a:r>
            <a:r>
              <a:rPr lang="en-US" sz="2200" dirty="0" err="1"/>
              <a:t>clm</a:t>
            </a:r>
            <a:r>
              <a:rPr lang="en-US" sz="2200" dirty="0"/>
              <a:t>(</a:t>
            </a:r>
            <a:r>
              <a:rPr lang="en-US" sz="2200" dirty="0" err="1"/>
              <a:t>as.factor</a:t>
            </a:r>
            <a:r>
              <a:rPr lang="en-US" sz="2200" dirty="0"/>
              <a:t>(abortion)~</a:t>
            </a:r>
            <a:r>
              <a:rPr lang="en-US" sz="2200" dirty="0" err="1"/>
              <a:t>college+conservatism+black+female</a:t>
            </a:r>
            <a:r>
              <a:rPr lang="en-US" sz="2200" dirty="0"/>
              <a:t>, nominal=~female, data=data)</a:t>
            </a:r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BF0FDEB-2EE5-BDD7-025B-F9E9FA45F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0873"/>
            <a:ext cx="4273403" cy="1325563"/>
          </a:xfrm>
        </p:spPr>
        <p:txBody>
          <a:bodyPr/>
          <a:lstStyle/>
          <a:p>
            <a:pPr algn="ctr"/>
            <a:r>
              <a:rPr lang="en-US" i="1" dirty="0"/>
              <a:t>Section 1.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FE1FE2-B245-F371-B0CA-659E970F1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381000"/>
            <a:ext cx="6477000" cy="6096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900F74B-9EF7-5526-473F-916BD68266B0}"/>
              </a:ext>
            </a:extLst>
          </p:cNvPr>
          <p:cNvSpPr/>
          <p:nvPr/>
        </p:nvSpPr>
        <p:spPr>
          <a:xfrm>
            <a:off x="5497286" y="2755682"/>
            <a:ext cx="3570514" cy="2830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C431AA-DA99-684B-3C92-9F1278A1CC2F}"/>
              </a:ext>
            </a:extLst>
          </p:cNvPr>
          <p:cNvCxnSpPr>
            <a:cxnSpLocks/>
          </p:cNvCxnSpPr>
          <p:nvPr/>
        </p:nvCxnSpPr>
        <p:spPr>
          <a:xfrm flipV="1">
            <a:off x="4474029" y="3038711"/>
            <a:ext cx="936171" cy="7930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092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AC947-E8F9-48BE-8C31-E753BC5A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73715AC-67A8-6A31-24DB-CE20F1BFCF09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7FBF59-7E39-8BCE-0CEF-AB5C1CC83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85" y="1479937"/>
            <a:ext cx="10722429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1</a:t>
            </a: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.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Presenting Model Results</a:t>
            </a:r>
            <a:endParaRPr lang="en-US" b="0" i="0" u="none" strike="noStrike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57F8F3-758C-F4DC-9C67-8328FAEEDE52}"/>
              </a:ext>
            </a:extLst>
          </p:cNvPr>
          <p:cNvSpPr txBox="1">
            <a:spLocks/>
          </p:cNvSpPr>
          <p:nvPr/>
        </p:nvSpPr>
        <p:spPr>
          <a:xfrm>
            <a:off x="304800" y="70873"/>
            <a:ext cx="72222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i="1" dirty="0"/>
              <a:t>Section 2. Multinomial Logit Model Using 1996 Presidential Election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492C6C-A8B7-2ECF-237A-932E233DD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273" y="2037421"/>
            <a:ext cx="57475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937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728A5-3FD5-9D3D-E79B-906A8590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121BFFB-2C96-45C0-6005-E848FFBE5B2A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8FC774-9612-0595-E1E5-CB5E68BC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85" y="1479937"/>
            <a:ext cx="10722429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2.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Test for the IIA Assumption</a:t>
            </a:r>
            <a:endParaRPr lang="en-US" b="0" i="0" u="none" strike="noStrike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3EDD62-A7D1-4A63-ADDD-064F51EE2877}"/>
              </a:ext>
            </a:extLst>
          </p:cNvPr>
          <p:cNvSpPr txBox="1">
            <a:spLocks/>
          </p:cNvSpPr>
          <p:nvPr/>
        </p:nvSpPr>
        <p:spPr>
          <a:xfrm>
            <a:off x="304800" y="70873"/>
            <a:ext cx="72222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i="1" dirty="0"/>
              <a:t>Section 2. Multinomial Logit Model Using 1996 Presidential Election Data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A9234C2-5B81-1FA6-6DB9-F2B9A0A9BA22}"/>
              </a:ext>
            </a:extLst>
          </p:cNvPr>
          <p:cNvSpPr txBox="1">
            <a:spLocks/>
          </p:cNvSpPr>
          <p:nvPr/>
        </p:nvSpPr>
        <p:spPr>
          <a:xfrm>
            <a:off x="593271" y="1853636"/>
            <a:ext cx="41692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R package “</a:t>
            </a:r>
            <a:r>
              <a:rPr lang="en-US" i="1" dirty="0" err="1"/>
              <a:t>mlogit</a:t>
            </a:r>
            <a:r>
              <a:rPr lang="en-US" i="1" dirty="0"/>
              <a:t>”</a:t>
            </a:r>
          </a:p>
          <a:p>
            <a:r>
              <a:rPr lang="en-US" i="1" dirty="0"/>
              <a:t>Need to reshape the data to the wide format.</a:t>
            </a:r>
          </a:p>
          <a:p>
            <a:r>
              <a:rPr lang="en-US" i="1" dirty="0" err="1"/>
              <a:t>mlogit</a:t>
            </a:r>
            <a:r>
              <a:rPr lang="en-US" i="1" dirty="0"/>
              <a:t>() has an option to specify alternative subset, </a:t>
            </a:r>
            <a:r>
              <a:rPr lang="en-US" i="1" dirty="0" err="1"/>
              <a:t>alt.subset</a:t>
            </a:r>
            <a:r>
              <a:rPr lang="en-US" i="1" dirty="0"/>
              <a:t>=c(“1”, “2”).</a:t>
            </a:r>
          </a:p>
          <a:p>
            <a:r>
              <a:rPr lang="en-US" i="1" dirty="0" err="1"/>
              <a:t>hmftest</a:t>
            </a:r>
            <a:r>
              <a:rPr lang="en-US" i="1" dirty="0"/>
              <a:t>() compares if coefficients are the same across models estimated with different subsets.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i="1" dirty="0"/>
          </a:p>
          <a:p>
            <a:pPr marL="0" indent="0">
              <a:buFont typeface="Arial" panose="020B0604020202020204" pitchFamily="34" charset="0"/>
              <a:buNone/>
            </a:pPr>
            <a:endParaRPr lang="en-US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055833-C1BF-C2FB-CFB4-0698B4E3E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714" y="1242606"/>
            <a:ext cx="60325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489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1D13-82FB-7883-066A-711137A2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A8B34C1-2A6A-0BFA-261E-FBE089E6C3DC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E2D458-F71F-1EC1-CA2D-46B7AC874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85" y="1479937"/>
            <a:ext cx="10722429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2.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Test for the IIA Assumption</a:t>
            </a:r>
            <a:endParaRPr lang="en-US" b="0" i="0" u="none" strike="noStrike" dirty="0"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9AD218-69AF-69ED-8AE3-550A72DC35F7}"/>
              </a:ext>
            </a:extLst>
          </p:cNvPr>
          <p:cNvSpPr txBox="1">
            <a:spLocks/>
          </p:cNvSpPr>
          <p:nvPr/>
        </p:nvSpPr>
        <p:spPr>
          <a:xfrm>
            <a:off x="304800" y="70873"/>
            <a:ext cx="72222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i="1" dirty="0"/>
              <a:t>Section 2. Multinomial Logit Model Using 1996 Presidential Election Data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E529991-0272-8D9C-7C1E-B8BC46DF3A8B}"/>
              </a:ext>
            </a:extLst>
          </p:cNvPr>
          <p:cNvSpPr txBox="1">
            <a:spLocks/>
          </p:cNvSpPr>
          <p:nvPr/>
        </p:nvSpPr>
        <p:spPr>
          <a:xfrm>
            <a:off x="593271" y="1853636"/>
            <a:ext cx="41692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 dirty="0"/>
              <a:t>IIA assumption: The relative odds of choosing one alternative over another are independent of the presence or characteristics of</a:t>
            </a:r>
            <a:r>
              <a:rPr lang="en-US" sz="2000" dirty="0"/>
              <a:t> </a:t>
            </a:r>
            <a:r>
              <a:rPr lang="en-US" sz="2000" i="1" dirty="0"/>
              <a:t>other options. In other words, removing or adding a third candidate should not affect the relative probability between the remaining two.</a:t>
            </a:r>
          </a:p>
          <a:p>
            <a:r>
              <a:rPr lang="en-US" sz="2000" i="1" dirty="0"/>
              <a:t>The IIA assumption is violated. </a:t>
            </a:r>
          </a:p>
          <a:p>
            <a:r>
              <a:rPr lang="en-US" sz="2000" i="1" dirty="0"/>
              <a:t>What to do? Use a multinomial probit model rather than a multinomial logit. </a:t>
            </a:r>
          </a:p>
          <a:p>
            <a:pPr lvl="1"/>
            <a:r>
              <a:rPr lang="en-US" sz="1600" i="1"/>
              <a:t>Package, MNP</a:t>
            </a:r>
            <a:endParaRPr lang="en-US" sz="1600" i="1" dirty="0"/>
          </a:p>
          <a:p>
            <a:pPr lvl="1"/>
            <a:endParaRPr lang="en-US" sz="800" dirty="0"/>
          </a:p>
          <a:p>
            <a:endParaRPr lang="en-US" sz="2000" i="1" dirty="0"/>
          </a:p>
          <a:p>
            <a:pPr marL="0" indent="0">
              <a:buFont typeface="Arial" panose="020B0604020202020204" pitchFamily="34" charset="0"/>
              <a:buNone/>
            </a:pPr>
            <a:endParaRPr lang="en-US" i="1" dirty="0"/>
          </a:p>
          <a:p>
            <a:pPr marL="0" indent="0">
              <a:buFont typeface="Arial" panose="020B0604020202020204" pitchFamily="34" charset="0"/>
              <a:buNone/>
            </a:pPr>
            <a:endParaRPr lang="en-US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460A4C-546D-8DB6-2C98-325916914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714" y="1242606"/>
            <a:ext cx="60325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90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4C7FF-C89B-88E2-89D4-A785BD44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C38C-8414-29E8-E354-1C9AD6A26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873"/>
            <a:ext cx="6843132" cy="1056178"/>
          </a:xfrm>
        </p:spPr>
        <p:txBody>
          <a:bodyPr>
            <a:normAutofit/>
          </a:bodyPr>
          <a:lstStyle/>
          <a:p>
            <a:pPr algn="ctr"/>
            <a:r>
              <a:rPr lang="en-US" i="1" dirty="0"/>
              <a:t>Your Own Research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E37838F-C43B-37D7-4DE7-A40B0E3E8BF5}"/>
              </a:ext>
            </a:extLst>
          </p:cNvPr>
          <p:cNvCxnSpPr>
            <a:cxnSpLocks/>
          </p:cNvCxnSpPr>
          <p:nvPr/>
        </p:nvCxnSpPr>
        <p:spPr>
          <a:xfrm>
            <a:off x="0" y="1127051"/>
            <a:ext cx="4114800" cy="0"/>
          </a:xfrm>
          <a:prstGeom prst="straightConnector1">
            <a:avLst/>
          </a:prstGeom>
          <a:ln w="57150"/>
          <a:effectLst>
            <a:reflection blurRad="6350" stA="50000" endA="300" endPos="90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92097-1AA7-ED21-9F82-732335A30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10"/>
            <a:ext cx="10515600" cy="4931979"/>
          </a:xfrm>
        </p:spPr>
        <p:txBody>
          <a:bodyPr>
            <a:normAutofit lnSpcReduction="10000"/>
          </a:bodyPr>
          <a:lstStyle/>
          <a:p>
            <a:pPr marL="514350" indent="-514350" algn="l">
              <a:buAutoNum type="arabicPeriod"/>
            </a:pPr>
            <a:r>
              <a:rPr lang="en-US" i="1" dirty="0"/>
              <a:t>Issue of insufficient power</a:t>
            </a:r>
          </a:p>
          <a:p>
            <a:pPr lvl="1"/>
            <a:r>
              <a:rPr lang="en-US" i="1" dirty="0"/>
              <a:t>MLE models are often biased with small sample sizes.</a:t>
            </a:r>
          </a:p>
          <a:p>
            <a:pPr lvl="1"/>
            <a:r>
              <a:rPr lang="en-US" i="1" dirty="0"/>
              <a:t>A sufficient number of observations?</a:t>
            </a:r>
          </a:p>
          <a:p>
            <a:pPr lvl="1"/>
            <a:r>
              <a:rPr lang="en-US" i="1" dirty="0"/>
              <a:t>Any specific variable prone to missing data?</a:t>
            </a:r>
          </a:p>
          <a:p>
            <a:pPr marL="0" indent="0">
              <a:buNone/>
            </a:pPr>
            <a:r>
              <a:rPr lang="en-US" i="1" dirty="0"/>
              <a:t>2. Nested data structure</a:t>
            </a:r>
          </a:p>
          <a:p>
            <a:pPr lvl="1"/>
            <a:r>
              <a:rPr lang="en-US" i="1" dirty="0"/>
              <a:t> Clarify the unit of analysis based on the dependent variable. </a:t>
            </a:r>
          </a:p>
          <a:p>
            <a:pPr lvl="1"/>
            <a:r>
              <a:rPr lang="en-US" i="1" dirty="0"/>
              <a:t>Rows in the date file should be based on the measurement of the DV.</a:t>
            </a:r>
          </a:p>
          <a:p>
            <a:pPr marL="0" indent="0">
              <a:buNone/>
            </a:pPr>
            <a:r>
              <a:rPr lang="en-US" i="1" dirty="0"/>
              <a:t>3. Develop empirical models</a:t>
            </a:r>
          </a:p>
          <a:p>
            <a:pPr lvl="1"/>
            <a:r>
              <a:rPr lang="en-US" i="1" dirty="0"/>
              <a:t>Baseline model with only key variables.</a:t>
            </a:r>
          </a:p>
          <a:p>
            <a:pPr lvl="1"/>
            <a:r>
              <a:rPr lang="en-US" i="1" dirty="0"/>
              <a:t>Competing theories/ confounding factors: Control variables.</a:t>
            </a:r>
          </a:p>
          <a:p>
            <a:pPr lvl="1"/>
            <a:r>
              <a:rPr lang="en-US" i="1" dirty="0"/>
              <a:t>Robustness checks: outlier observations, test of model assumptions, and alternative model specification.  </a:t>
            </a:r>
          </a:p>
        </p:txBody>
      </p:sp>
    </p:spTree>
    <p:extLst>
      <p:ext uri="{BB962C8B-B14F-4D97-AF65-F5344CB8AC3E}">
        <p14:creationId xmlns:p14="http://schemas.microsoft.com/office/powerpoint/2010/main" val="2845978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</TotalTime>
  <Words>853</Words>
  <Application>Microsoft Macintosh PowerPoint</Application>
  <PresentationFormat>Widescreen</PresentationFormat>
  <Paragraphs>116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Aharoni</vt:lpstr>
      <vt:lpstr>Aptos</vt:lpstr>
      <vt:lpstr>Arial</vt:lpstr>
      <vt:lpstr>Calibri</vt:lpstr>
      <vt:lpstr>Calibri Light</vt:lpstr>
      <vt:lpstr>Office Theme</vt:lpstr>
      <vt:lpstr>Homework #3 Review</vt:lpstr>
      <vt:lpstr>Section 1. Analyzing  Abortion Attitudes using ANES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Section 1</vt:lpstr>
      <vt:lpstr>Section 1</vt:lpstr>
      <vt:lpstr>Section 1</vt:lpstr>
      <vt:lpstr>Section 1.</vt:lpstr>
      <vt:lpstr>PowerPoint Presentation</vt:lpstr>
      <vt:lpstr>PowerPoint Presentation</vt:lpstr>
      <vt:lpstr>PowerPoint Presentation</vt:lpstr>
      <vt:lpstr>Your Own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Value of Judical Independence:  Evidence of Eighteenth Century England</dc:title>
  <dc:creator>Ege, Sebastian L</dc:creator>
  <cp:lastModifiedBy>Zhu, Ling</cp:lastModifiedBy>
  <cp:revision>35</cp:revision>
  <dcterms:created xsi:type="dcterms:W3CDTF">2022-10-12T03:36:53Z</dcterms:created>
  <dcterms:modified xsi:type="dcterms:W3CDTF">2025-10-22T13:55:29Z</dcterms:modified>
</cp:coreProperties>
</file>