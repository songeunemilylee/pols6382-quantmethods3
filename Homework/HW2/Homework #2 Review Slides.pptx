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7" r:id="rId2"/>
    <p:sldId id="258" r:id="rId3"/>
    <p:sldId id="261" r:id="rId4"/>
    <p:sldId id="262" r:id="rId5"/>
    <p:sldId id="259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53E7-B410-594A-2969-B5559C2EC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B3E9B-4C5B-1C3B-0D48-18CCD8861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15F38-C369-2B24-97A4-B59B18EE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C5C9-164C-46B3-A87E-7660D39D3106}" type="datetime2">
              <a:rPr lang="en-US" smtClean="0"/>
              <a:t>Tuesday, October 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72335-0ED2-E267-0849-65A22835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CA7DA-4149-9FDA-D3E4-16E7520C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30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DFBD-3B56-7893-6AD7-4D3CAD83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CB8FD-57F1-2613-FA21-5C936F255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1682C-E614-EC9E-71AF-C88760B3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FF8A-AAF8-4A12-8A91-9CA0EAF6CBB9}" type="datetime2">
              <a:rPr lang="en-US" smtClean="0"/>
              <a:t>Tuesday, October 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371B-7538-20E4-7594-C83C8C73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43B3-C934-DC2C-2757-A4FD41DD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3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3920-B13A-4D9D-C37C-242BF480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D0A08-0F93-B042-329D-F6CD64298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4E1E4-6C09-D86F-1AEC-51CFA955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25C3-021A-4B0B-8F70-0C181FE1CF45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26C99-D026-8D83-E1D6-5154CF2E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CD301-2C60-2DB7-C4A9-9E7BBBD13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0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471F-E6CD-5B68-5392-3B61F3CF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E0B00-004E-358D-39CB-DE1799466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83C5C-BF62-0A0E-ECCF-3FC9430A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94FAA-EE83-C6A3-D557-CBE07026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D88D-8CEC-4ED9-A53B-5596187D9A16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CBCFD-1A27-40C1-50A4-FF5793BD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B467F-D64C-E51A-C16F-79C97539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4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B103-47A5-7642-4F8E-10D960F4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4C75-77A4-F327-C8A3-B6D85F09C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2F93D-DFCE-3AB8-65F6-8A7720AA7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EEB3A-2BB3-1B9B-B9AA-77D1D0452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B44B9-6CB7-D132-C30E-FE8005942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FEB18-6226-CFDA-32BF-858A8F46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D382-DFDA-4722-A27A-59C21AD112F2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385F5-F067-65A5-540A-FE51E11E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8CC8F-A25D-CE3C-053B-DA7BACB9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7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EC5F-64A7-4B4D-465A-BA0B2B2D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62DA78-0698-859D-7F47-E00855FF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2A30D-1C09-413F-AAB1-38F366000715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AF40A-B2B1-D224-0341-A8214AE1C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AC3FC-BC2C-5EAF-2C68-A4FD9B8F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0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532D7-128E-3247-691E-4E1DA145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82B9C-D65E-4F64-95C3-B10F3B00F0D9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762A1-B118-E1E0-1BC6-6113300A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8116E-4DC1-9A88-BB0F-A265A5B0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7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492F-1C39-25A5-CD70-6B44DEA4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B6420-4C38-CC18-71BA-B2CD086D6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46F45-AE4E-8014-360F-0F9A9D5A0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D6635-7E18-4954-A82B-D4F882B97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FDCC-6AAC-4A08-B9E0-3793AB5E64C3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9E188-6F55-801C-4179-52DEBE6D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D7ACB-2C28-8237-9593-4A51FF08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0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3A59-CD11-5ACE-642C-3BAEF1F1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E66CE-0B3A-377D-A55D-D7093131F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37444-8263-452C-9AC9-7E9233A00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EAFD5-DCE3-872E-EDF5-6F7402705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E94D-439C-40F1-900E-BC07940E3988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42B48-7471-DF52-ACD0-9494D50C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F54E4-CE2A-B5CF-2D6E-6BA5534C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1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99FE-A44D-74C6-CCAC-49D875F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D3758-04D7-1E4E-E6F6-4057503AE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DEE0D-4F7B-43F3-47FC-FFEFB8F9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179A-1E2B-41AB-B400-4F1B4022FAEE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5D6E-D622-41D8-B607-765B82AE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9C867-A1BE-9351-2A6C-0048AEA3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8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F6132-8659-0129-C814-ACA6837A3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3FEE1-EE50-A9B1-DB9F-A44B8CA93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F2C5-93F7-640C-2E2A-F09D4EF2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1D0F-6595-4F14-8EF3-954CD87C797B}" type="datetime2">
              <a:rPr lang="en-US" smtClean="0"/>
              <a:t>Tuesday, October 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F8B-CE41-2B78-5D51-A5EBEBAE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1D57-66FA-84BE-D61C-239C842D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0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05DD2-3ABA-8D54-E1CD-05E7ACC9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B422F-6919-485C-3748-1A737B987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74C-63B0-44A7-5D48-BBCA9AD5F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A2CF1-0EB2-4673-802D-3371233E4A77}" type="datetime2">
              <a:rPr lang="en-US" smtClean="0"/>
              <a:t>Tuesday, October 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2F12B-75E6-3E3E-EFB6-5C99BCCD7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DDDF7-4F56-145F-09DA-C788EA5D9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2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497B-3C66-31D7-DF49-9846B924D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4137" y="936171"/>
            <a:ext cx="5183725" cy="1748844"/>
          </a:xfrm>
        </p:spPr>
        <p:txBody>
          <a:bodyPr>
            <a:no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Homework #2</a:t>
            </a: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40B6A-B2C9-5750-17A6-274E1D3EE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9566" y="3622890"/>
            <a:ext cx="5297605" cy="2298939"/>
          </a:xfrm>
        </p:spPr>
        <p:txBody>
          <a:bodyPr>
            <a:normAutofit/>
          </a:bodyPr>
          <a:lstStyle/>
          <a:p>
            <a:r>
              <a:rPr lang="en-US" sz="2800" dirty="0"/>
              <a:t>POLS6382 Quantitative Methods III: Maximum Likelihood Estimation</a:t>
            </a:r>
          </a:p>
          <a:p>
            <a:endParaRPr lang="en-US" sz="2800" dirty="0"/>
          </a:p>
          <a:p>
            <a:r>
              <a:rPr lang="en-US" sz="2800" dirty="0"/>
              <a:t>October 8, 2025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7FE116-36DF-650B-6DAA-C9B10040E1BB}"/>
              </a:ext>
            </a:extLst>
          </p:cNvPr>
          <p:cNvCxnSpPr>
            <a:cxnSpLocks/>
          </p:cNvCxnSpPr>
          <p:nvPr/>
        </p:nvCxnSpPr>
        <p:spPr>
          <a:xfrm>
            <a:off x="4114800" y="3097365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37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EBCB-B096-169F-5472-FF9873C1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0873"/>
            <a:ext cx="4273403" cy="1325563"/>
          </a:xfrm>
        </p:spPr>
        <p:txBody>
          <a:bodyPr/>
          <a:lstStyle/>
          <a:p>
            <a:pPr algn="ctr"/>
            <a:r>
              <a:rPr lang="en-US" i="1" dirty="0"/>
              <a:t>Overall comments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5FCF2-1ED5-EBA3-F42A-2A7769FD6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1. Incorrectly treating a coefficient from a logit or probit model as the constant marginal effect from an OLS model. 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In logit/probit models, marginal effects vary and are not constant like in OLS. </a:t>
            </a:r>
          </a:p>
          <a:p>
            <a:r>
              <a:rPr lang="en-US" i="1" dirty="0"/>
              <a:t>They often need to be calculated at specific values (e.g., at the mean) </a:t>
            </a:r>
          </a:p>
          <a:p>
            <a:r>
              <a:rPr lang="en-US" i="1" dirty="0"/>
              <a:t>They describe how changes in independent variables affect the probability, not the outcome directly.</a:t>
            </a:r>
          </a:p>
        </p:txBody>
      </p:sp>
    </p:spTree>
    <p:extLst>
      <p:ext uri="{BB962C8B-B14F-4D97-AF65-F5344CB8AC3E}">
        <p14:creationId xmlns:p14="http://schemas.microsoft.com/office/powerpoint/2010/main" val="86881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5FCF2-1ED5-EBA3-F42A-2A7769FD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2429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Wrong interpretation of the measurement scales of dichotomous variables. 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Dichotomous variables represent two distinct categories (e.g., 0 or 1, yes or no). </a:t>
            </a:r>
          </a:p>
          <a:p>
            <a:pPr marL="0" indent="0">
              <a:buNone/>
            </a:pPr>
            <a:r>
              <a:rPr lang="en-US" i="1" dirty="0"/>
              <a:t> =&gt; Court sided with petitioner (yes/no) / Member voted for bill (yes/no)</a:t>
            </a:r>
          </a:p>
          <a:p>
            <a:r>
              <a:rPr lang="en-US" i="1" dirty="0"/>
              <a:t>They should not be interpreted as continuous or ordinal variables. </a:t>
            </a:r>
          </a:p>
          <a:p>
            <a:r>
              <a:rPr lang="en-US" i="1" dirty="0"/>
              <a:t>Effect of independent variables increases </a:t>
            </a:r>
            <a:r>
              <a:rPr lang="en-US" i="1" u="sng" dirty="0"/>
              <a:t>likelihood</a:t>
            </a:r>
            <a:r>
              <a:rPr lang="en-US" i="1" dirty="0"/>
              <a:t> that event occurs (not more votes/ pro-petitioner decisions)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E9ED97C-4ABA-58A0-C02F-5D0AA7DD6432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42734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/>
              <a:t>Overall comments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90917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5FCF2-1ED5-EBA3-F42A-2A7769FD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2429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3.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Incorrectly t</a:t>
            </a: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rying to interpret a statistically insignificant coefficient to reflect a positive or negative effect. 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A statistically insignificant coefficient indicates that there is </a:t>
            </a:r>
            <a:r>
              <a:rPr lang="en-US" i="1" u="sng" dirty="0"/>
              <a:t>no</a:t>
            </a:r>
            <a:r>
              <a:rPr lang="en-US" i="1" dirty="0"/>
              <a:t> strong evidence to suggest a meaningful positive </a:t>
            </a:r>
            <a:r>
              <a:rPr lang="en-US" i="1" u="sng" dirty="0"/>
              <a:t>or</a:t>
            </a:r>
            <a:r>
              <a:rPr lang="en-US" i="1" dirty="0"/>
              <a:t> negative effect. </a:t>
            </a:r>
          </a:p>
          <a:p>
            <a:r>
              <a:rPr lang="en-US" i="1" dirty="0"/>
              <a:t>No need to discuss any effect sizes or directions.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AB6DED-BC96-3D16-B46F-01F402AEF2F7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42734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/>
              <a:t>Overall comments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36567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EBCB-B096-169F-5472-FF9873C1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" y="70873"/>
            <a:ext cx="7304314" cy="1325563"/>
          </a:xfrm>
        </p:spPr>
        <p:txBody>
          <a:bodyPr/>
          <a:lstStyle/>
          <a:p>
            <a:pPr algn="ctr"/>
            <a:r>
              <a:rPr lang="en-US" i="1" dirty="0"/>
              <a:t>Coding Predicted Probabilities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3031082-B8C5-281D-017A-C3074ABC7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57" y="1502229"/>
            <a:ext cx="6578600" cy="5181600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783A78B-BF5F-5295-270C-4E8F37FE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9" y="1836511"/>
            <a:ext cx="3603172" cy="4351338"/>
          </a:xfrm>
        </p:spPr>
        <p:txBody>
          <a:bodyPr>
            <a:normAutofit/>
          </a:bodyPr>
          <a:lstStyle/>
          <a:p>
            <a:r>
              <a:rPr lang="en-US" i="1" dirty="0"/>
              <a:t>Confidence intervals should be centered around the mean predicted probability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3109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EBCB-B096-169F-5472-FF9873C1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" y="70873"/>
            <a:ext cx="7304314" cy="1325563"/>
          </a:xfrm>
        </p:spPr>
        <p:txBody>
          <a:bodyPr/>
          <a:lstStyle/>
          <a:p>
            <a:pPr algn="ctr"/>
            <a:r>
              <a:rPr lang="en-US" i="1" dirty="0"/>
              <a:t>Coding Predicted Probabilities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3031082-B8C5-281D-017A-C3074ABC7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57" y="1502229"/>
            <a:ext cx="6578600" cy="5181600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783A78B-BF5F-5295-270C-4E8F37FE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8" y="1836511"/>
            <a:ext cx="3810001" cy="4351338"/>
          </a:xfrm>
        </p:spPr>
        <p:txBody>
          <a:bodyPr>
            <a:normAutofit/>
          </a:bodyPr>
          <a:lstStyle/>
          <a:p>
            <a:r>
              <a:rPr lang="en-US" i="1" dirty="0"/>
              <a:t>Confidence intervals should be centered around the mean predicted probability</a:t>
            </a:r>
          </a:p>
          <a:p>
            <a:endParaRPr lang="en-US" i="1" dirty="0"/>
          </a:p>
          <a:p>
            <a:r>
              <a:rPr lang="en-US" i="1" dirty="0"/>
              <a:t>When calculating predicted probabilities use:   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type = “response”</a:t>
            </a:r>
          </a:p>
          <a:p>
            <a:pPr marL="0" indent="0">
              <a:buNone/>
            </a:pPr>
            <a:endParaRPr lang="en-US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B921F-9BCA-A887-A4B0-0F7984619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108" y="2715079"/>
            <a:ext cx="7235686" cy="142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1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55B7-F5BD-A43F-752D-17A99757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31B9EAA-6439-2605-8362-5AD8B622B122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405AB-3057-53C0-E581-085418DD0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2429" cy="4351338"/>
          </a:xfrm>
        </p:spPr>
        <p:txBody>
          <a:bodyPr>
            <a:normAutofit/>
          </a:bodyPr>
          <a:lstStyle/>
          <a:p>
            <a:r>
              <a:rPr lang="en-US" dirty="0"/>
              <a:t>Make sure that your variables match the concepts you proposed to study</a:t>
            </a:r>
          </a:p>
          <a:p>
            <a:r>
              <a:rPr lang="en-US" dirty="0"/>
              <a:t>Including measurement scale and coding rules. </a:t>
            </a:r>
          </a:p>
          <a:p>
            <a:r>
              <a:rPr lang="en-US" dirty="0"/>
              <a:t>Be transparent about data sources:</a:t>
            </a:r>
          </a:p>
          <a:p>
            <a:pPr lvl="1"/>
            <a:r>
              <a:rPr lang="en-US" dirty="0"/>
              <a:t>Original coding by you.</a:t>
            </a:r>
          </a:p>
          <a:p>
            <a:pPr lvl="1"/>
            <a:r>
              <a:rPr lang="en-US" dirty="0"/>
              <a:t>Measures drawn from existing data sources; Will you change the coding or manipulate others’ replication data?</a:t>
            </a:r>
          </a:p>
          <a:p>
            <a:r>
              <a:rPr lang="en-US" dirty="0"/>
              <a:t>No need to include variables that are irrelevant to your project. </a:t>
            </a:r>
          </a:p>
          <a:p>
            <a:endParaRPr lang="en-US" i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0BCA94-8C88-011A-3E85-36569F16FFC9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75568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Codebook of A Research Project</a:t>
            </a:r>
          </a:p>
        </p:txBody>
      </p:sp>
    </p:spTree>
    <p:extLst>
      <p:ext uri="{BB962C8B-B14F-4D97-AF65-F5344CB8AC3E}">
        <p14:creationId xmlns:p14="http://schemas.microsoft.com/office/powerpoint/2010/main" val="88220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</TotalTime>
  <Words>328</Words>
  <Application>Microsoft Macintosh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Aharoni</vt:lpstr>
      <vt:lpstr>Aptos</vt:lpstr>
      <vt:lpstr>Arial</vt:lpstr>
      <vt:lpstr>Calibri</vt:lpstr>
      <vt:lpstr>Calibri Light</vt:lpstr>
      <vt:lpstr>Office Theme</vt:lpstr>
      <vt:lpstr>Homework #2 Review</vt:lpstr>
      <vt:lpstr>Overall comments</vt:lpstr>
      <vt:lpstr>PowerPoint Presentation</vt:lpstr>
      <vt:lpstr>PowerPoint Presentation</vt:lpstr>
      <vt:lpstr>Coding Predicted Probabilities</vt:lpstr>
      <vt:lpstr>Coding Predicted Probabilities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Value of Judical Independence:  Evidence of Eighteenth Century England</dc:title>
  <dc:creator>Ege, Sebastian L</dc:creator>
  <cp:lastModifiedBy>Zhu, Ling</cp:lastModifiedBy>
  <cp:revision>10</cp:revision>
  <dcterms:created xsi:type="dcterms:W3CDTF">2022-10-12T03:36:53Z</dcterms:created>
  <dcterms:modified xsi:type="dcterms:W3CDTF">2025-10-08T01:09:37Z</dcterms:modified>
</cp:coreProperties>
</file>